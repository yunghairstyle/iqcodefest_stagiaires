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6" r:id="rId9"/>
    <p:sldId id="269" r:id="rId10"/>
    <p:sldId id="272" r:id="rId11"/>
    <p:sldId id="270" r:id="rId12"/>
    <p:sldId id="271" r:id="rId13"/>
    <p:sldId id="267" r:id="rId14"/>
    <p:sldId id="262" r:id="rId15"/>
    <p:sldId id="268" r:id="rId16"/>
    <p:sldId id="273" r:id="rId17"/>
    <p:sldId id="274" r:id="rId18"/>
    <p:sldId id="275" r:id="rId19"/>
    <p:sldId id="263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F69DF2-E978-D3E2-C504-BC569C5BC4FE}" v="761" dt="2026-06-02T19:20:43.782"/>
    <p1510:client id="{C0CF07A5-33D2-2C01-87E0-4FCC6FB01647}" v="10" dt="2026-06-02T18:38:27.180"/>
    <p1510:client id="{ED01B04F-98CD-CB4C-A308-64BBA0FAE8D1}" v="205" dt="2026-06-02T19:05:59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E4D64-A2D5-7B48-A7F6-264447A7E5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4F3BA-2209-B146-8B8C-4DE825DB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4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4F3BA-2209-B146-8B8C-4DE825DB2B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10BF-22EA-3BDD-A860-CBA639DE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4E005-EFBF-023B-9BF6-D5837FCD1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44864-57E9-29E2-D6D8-CEA59C657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32090-5F0D-F530-91B0-8BB3B3095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4F3BA-2209-B146-8B8C-4DE825DB2B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3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669D-0A17-E4AF-2323-9CB9B32DC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057" y="550682"/>
            <a:ext cx="9924722" cy="861420"/>
          </a:xfrm>
        </p:spPr>
        <p:txBody>
          <a:bodyPr/>
          <a:lstStyle/>
          <a:p>
            <a:r>
              <a:rPr lang="en-US" sz="4400"/>
              <a:t>Image analysis: anomaly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B5370-5643-8DAE-50A6-7DB208F54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5235" y="2629616"/>
            <a:ext cx="8825658" cy="1110572"/>
          </a:xfrm>
        </p:spPr>
        <p:txBody>
          <a:bodyPr>
            <a:normAutofit/>
          </a:bodyPr>
          <a:lstStyle/>
          <a:p>
            <a:pPr algn="ctr"/>
            <a:r>
              <a:rPr lang="en-US" sz="3600"/>
              <a:t>LES STAGIAIREs</a:t>
            </a:r>
          </a:p>
          <a:p>
            <a:pPr algn="ctr"/>
            <a:endParaRPr lang="en-US" sz="36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DF98B8-F552-8A55-B3F4-4C680E586D7B}"/>
              </a:ext>
            </a:extLst>
          </p:cNvPr>
          <p:cNvSpPr txBox="1">
            <a:spLocks/>
          </p:cNvSpPr>
          <p:nvPr/>
        </p:nvSpPr>
        <p:spPr>
          <a:xfrm>
            <a:off x="854805" y="1649910"/>
            <a:ext cx="9924722" cy="8614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/>
              <a:t>Handwriting detection, credit card fraud prevention, and fashion helper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9F95B-91B3-0370-8781-113217830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692" y="3650160"/>
            <a:ext cx="2687862" cy="2687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C12442-B41D-A1B4-2E9E-BCA03E82F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485" y="2276106"/>
            <a:ext cx="2967347" cy="1661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1AA698-8352-A8A7-E7BB-8FC0C079E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3" y="3442055"/>
            <a:ext cx="4032959" cy="20037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686A01-9A24-B2A0-E9AE-6CAC3BB12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829" y="4284130"/>
            <a:ext cx="3089941" cy="232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99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0314-1151-7AE3-11CA-F04EF181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8402"/>
          </a:xfrm>
        </p:spPr>
        <p:txBody>
          <a:bodyPr/>
          <a:lstStyle/>
          <a:p>
            <a:r>
              <a:rPr lang="en-US" sz="440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49C33-6DEC-8317-78F3-13199F2AE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97152"/>
            <a:ext cx="10547126" cy="888402"/>
          </a:xfrm>
        </p:spPr>
        <p:txBody>
          <a:bodyPr>
            <a:normAutofit/>
          </a:bodyPr>
          <a:lstStyle/>
          <a:p>
            <a:r>
              <a:rPr lang="en-US" sz="3600"/>
              <a:t>Introduction: what is image analysis</a:t>
            </a:r>
            <a:endParaRPr lang="en-US" sz="32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9B6815-FAAB-8675-26A2-735B2F451130}"/>
              </a:ext>
            </a:extLst>
          </p:cNvPr>
          <p:cNvSpPr txBox="1">
            <a:spLocks/>
          </p:cNvSpPr>
          <p:nvPr/>
        </p:nvSpPr>
        <p:spPr>
          <a:xfrm>
            <a:off x="646111" y="1597152"/>
            <a:ext cx="10547126" cy="25064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sz="3600"/>
          </a:p>
          <a:p>
            <a:r>
              <a:rPr lang="en-US" sz="3600"/>
              <a:t>Motivation: </a:t>
            </a:r>
          </a:p>
          <a:p>
            <a:pPr lvl="1"/>
            <a:r>
              <a:rPr lang="en-US" sz="3200"/>
              <a:t>Why analyze images</a:t>
            </a:r>
          </a:p>
          <a:p>
            <a:pPr lvl="1"/>
            <a:r>
              <a:rPr lang="en-US" sz="3200"/>
              <a:t>Why detect anomalies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7D3A41-7E5B-89BB-C0CE-979F4653DBCA}"/>
              </a:ext>
            </a:extLst>
          </p:cNvPr>
          <p:cNvSpPr txBox="1">
            <a:spLocks/>
          </p:cNvSpPr>
          <p:nvPr/>
        </p:nvSpPr>
        <p:spPr>
          <a:xfrm>
            <a:off x="646111" y="4103595"/>
            <a:ext cx="10547126" cy="888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3600"/>
              <a:t>Method: demonstration of our pipeline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1B53CF-A67B-F402-B0DB-D4C4E5A370AF}"/>
              </a:ext>
            </a:extLst>
          </p:cNvPr>
          <p:cNvSpPr txBox="1">
            <a:spLocks/>
          </p:cNvSpPr>
          <p:nvPr/>
        </p:nvSpPr>
        <p:spPr>
          <a:xfrm>
            <a:off x="646111" y="5721636"/>
            <a:ext cx="10547126" cy="888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3200"/>
              <a:t>Discussion</a:t>
            </a:r>
            <a:endParaRPr lang="en-US" sz="2800"/>
          </a:p>
          <a:p>
            <a:endParaRPr lang="en-US" sz="32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2EC313-0E0D-69FF-D8D4-98C1E1737F65}"/>
              </a:ext>
            </a:extLst>
          </p:cNvPr>
          <p:cNvSpPr txBox="1">
            <a:spLocks/>
          </p:cNvSpPr>
          <p:nvPr/>
        </p:nvSpPr>
        <p:spPr>
          <a:xfrm>
            <a:off x="646111" y="4912616"/>
            <a:ext cx="10547126" cy="888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3600"/>
              <a:t>Results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937109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89BA-7245-F595-8267-BCF54BDC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E4A61-BE7C-26F6-C4B5-B96557304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8402"/>
          </a:xfrm>
        </p:spPr>
        <p:txBody>
          <a:bodyPr/>
          <a:lstStyle/>
          <a:p>
            <a:r>
              <a:rPr lang="en-US" sz="4400"/>
              <a:t>What is image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25A3F-39F4-0630-87C6-FC7434A1C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97152"/>
            <a:ext cx="6815393" cy="1316736"/>
          </a:xfrm>
        </p:spPr>
        <p:txBody>
          <a:bodyPr>
            <a:normAutofit/>
          </a:bodyPr>
          <a:lstStyle/>
          <a:p>
            <a:r>
              <a:rPr lang="en-US" sz="3200"/>
              <a:t>Extraction of meaningful information from digital images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4A804BC-BD4C-B382-FDCB-99CCC37F76FD}"/>
              </a:ext>
            </a:extLst>
          </p:cNvPr>
          <p:cNvSpPr txBox="1">
            <a:spLocks/>
          </p:cNvSpPr>
          <p:nvPr/>
        </p:nvSpPr>
        <p:spPr>
          <a:xfrm>
            <a:off x="160705" y="3027188"/>
            <a:ext cx="2255587" cy="401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CA" sz="1600"/>
              <a:t>detect objects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A925FA0-9B93-207B-8FD9-8DF0F7E66901}"/>
              </a:ext>
            </a:extLst>
          </p:cNvPr>
          <p:cNvSpPr txBox="1">
            <a:spLocks/>
          </p:cNvSpPr>
          <p:nvPr/>
        </p:nvSpPr>
        <p:spPr>
          <a:xfrm>
            <a:off x="7853976" y="2970538"/>
            <a:ext cx="2421106" cy="401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CA" sz="1600"/>
              <a:t>recognize patterns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1591050-93DC-6D65-FBFC-6E51B77ED6AD}"/>
              </a:ext>
            </a:extLst>
          </p:cNvPr>
          <p:cNvSpPr txBox="1">
            <a:spLocks/>
          </p:cNvSpPr>
          <p:nvPr/>
        </p:nvSpPr>
        <p:spPr>
          <a:xfrm>
            <a:off x="160706" y="4141412"/>
            <a:ext cx="2255587" cy="401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CA" sz="1600"/>
              <a:t>measure features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452289E-EF82-6556-5B36-88598BEE49F7}"/>
              </a:ext>
            </a:extLst>
          </p:cNvPr>
          <p:cNvSpPr txBox="1">
            <a:spLocks/>
          </p:cNvSpPr>
          <p:nvPr/>
        </p:nvSpPr>
        <p:spPr>
          <a:xfrm>
            <a:off x="7853976" y="4222529"/>
            <a:ext cx="2640562" cy="401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CA" sz="1600"/>
              <a:t>classify visual data</a:t>
            </a:r>
            <a:endParaRPr lang="en-US" sz="16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28728F-2672-F2D0-718C-033277C00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834" y="2913888"/>
            <a:ext cx="3389310" cy="31899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C1995FF-DDEB-AFC1-A0B4-6F0FAF889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834" y="3027188"/>
            <a:ext cx="3842742" cy="28895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B93F6F-3992-F1E9-7940-4404AD08A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9725" y="2970538"/>
            <a:ext cx="4179579" cy="30028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F3E333-BC12-E894-EC18-D25FC6F63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929" y="2888475"/>
            <a:ext cx="5081245" cy="30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6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B933-A61A-1E9B-2A51-082DF5512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64018"/>
          </a:xfrm>
        </p:spPr>
        <p:txBody>
          <a:bodyPr/>
          <a:lstStyle/>
          <a:p>
            <a:r>
              <a:rPr lang="en-US"/>
              <a:t>Why analyze images?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8AA83-9829-46A5-F77D-40E0AD267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536193"/>
            <a:ext cx="5085109" cy="14386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/>
              <a:t>Humans love to look at things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5B166-91F9-9237-214B-52185066A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688" y="1316736"/>
            <a:ext cx="2365248" cy="2183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409105-3039-5512-84DC-B68DF8F11A78}"/>
              </a:ext>
            </a:extLst>
          </p:cNvPr>
          <p:cNvSpPr txBox="1"/>
          <p:nvPr/>
        </p:nvSpPr>
        <p:spPr>
          <a:xfrm>
            <a:off x="420100" y="3883153"/>
            <a:ext cx="55351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/>
              <a:t>Images contain rich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/>
              <a:t>To extract useful measurements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/>
              <a:t>To automate visual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/>
              <a:t>To find patterns that are hard to see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DC6B31-E5D8-7099-C6EE-B748BCB57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40" y="2818384"/>
            <a:ext cx="5193792" cy="305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80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B276-6CC6-5308-156E-FD091314E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68C6-DD6E-5AE3-7064-DA72DCA15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64018"/>
          </a:xfrm>
        </p:spPr>
        <p:txBody>
          <a:bodyPr/>
          <a:lstStyle/>
          <a:p>
            <a:r>
              <a:rPr lang="en-US"/>
              <a:t>Why detect anomalies?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B6D08-9CB0-BFDC-5B3E-BD5315449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536193"/>
            <a:ext cx="5085109" cy="14386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/>
              <a:t>Humans love to categorize things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EC4375-B1FE-1203-7C8A-30E615F8A066}"/>
              </a:ext>
            </a:extLst>
          </p:cNvPr>
          <p:cNvSpPr txBox="1"/>
          <p:nvPr/>
        </p:nvSpPr>
        <p:spPr>
          <a:xfrm>
            <a:off x="420100" y="4188798"/>
            <a:ext cx="5535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Often, humans have a hard time detecting small differences which can aid in understanding some systems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D57B4-B394-B453-D469-45836FCF5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269" y="1220028"/>
            <a:ext cx="4407931" cy="2663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8A4B59-77F0-F902-9CF2-B9C724260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974848"/>
            <a:ext cx="5193792" cy="305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7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AA61-1D4F-D316-0BC6-F1BB9DEA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5449889" cy="754290"/>
          </a:xfrm>
        </p:spPr>
        <p:txBody>
          <a:bodyPr/>
          <a:lstStyle/>
          <a:p>
            <a:r>
              <a:rPr lang="en-US" sz="3600"/>
              <a:t>Literature motivation: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E35E6-9278-3651-8CC2-CA7AC8802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353312"/>
            <a:ext cx="10948480" cy="1499616"/>
          </a:xfrm>
        </p:spPr>
        <p:txBody>
          <a:bodyPr/>
          <a:lstStyle/>
          <a:p>
            <a:r>
              <a:rPr lang="en-US"/>
              <a:t>The analysis includes experimental results showing that </a:t>
            </a:r>
            <a:r>
              <a:rPr lang="en-US" b="1"/>
              <a:t>quantum kernels outperform classical methods</a:t>
            </a:r>
            <a:r>
              <a:rPr lang="en-US"/>
              <a:t> in certain industrial applications. [1]</a:t>
            </a:r>
          </a:p>
          <a:p>
            <a:r>
              <a:rPr lang="en-US"/>
              <a:t>anomaly detection represents an important problem crossing several disciplines from cybersecurity, to fraud detection to particle physics [2]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5F3FDD-0603-24E5-F749-294CE89A222C}"/>
              </a:ext>
            </a:extLst>
          </p:cNvPr>
          <p:cNvSpPr txBox="1">
            <a:spLocks/>
          </p:cNvSpPr>
          <p:nvPr/>
        </p:nvSpPr>
        <p:spPr>
          <a:xfrm>
            <a:off x="573057" y="2929128"/>
            <a:ext cx="10948480" cy="9997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Kernel methods for machine learning are ubiquitous for pattern recognition, with support vector machines (SVMs) being the most well-known method for classification problems. [3]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539B5C-D101-DFF3-A3C7-DE613429BE90}"/>
              </a:ext>
            </a:extLst>
          </p:cNvPr>
          <p:cNvSpPr txBox="1">
            <a:spLocks/>
          </p:cNvSpPr>
          <p:nvPr/>
        </p:nvSpPr>
        <p:spPr>
          <a:xfrm>
            <a:off x="573057" y="2929128"/>
            <a:ext cx="10948480" cy="9997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>
                <a:solidFill>
                  <a:schemeClr val="bg1">
                    <a:lumMod val="95000"/>
                    <a:lumOff val="5000"/>
                  </a:schemeClr>
                </a:solidFill>
              </a:rPr>
              <a:t>However, there are limitations to the successful solution to such problems when the feature space becomes large, and the kernel functions become computationally expensive to estimate</a:t>
            </a:r>
            <a:r>
              <a:rPr lang="en-US"/>
              <a:t>[3]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4C9377-1A60-549D-C326-F42D8ADE639F}"/>
              </a:ext>
            </a:extLst>
          </p:cNvPr>
          <p:cNvSpPr txBox="1">
            <a:spLocks/>
          </p:cNvSpPr>
          <p:nvPr/>
        </p:nvSpPr>
        <p:spPr>
          <a:xfrm>
            <a:off x="573057" y="4032504"/>
            <a:ext cx="10948480" cy="999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the quantum device estimates inner products of quantum states to compute a classically intractable kernel. [4]</a:t>
            </a:r>
          </a:p>
        </p:txBody>
      </p:sp>
    </p:spTree>
    <p:extLst>
      <p:ext uri="{BB962C8B-B14F-4D97-AF65-F5344CB8AC3E}">
        <p14:creationId xmlns:p14="http://schemas.microsoft.com/office/powerpoint/2010/main" val="149868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98CA-2EE8-FC9E-C2D8-5A48C1B3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6364289" cy="790866"/>
          </a:xfrm>
        </p:spPr>
        <p:txBody>
          <a:bodyPr/>
          <a:lstStyle/>
          <a:p>
            <a:r>
              <a:rPr lang="en-US" sz="3200"/>
              <a:t>How do we analyze images?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F74D5-99E6-6461-C8BD-3B48B02E6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02" y="1243584"/>
            <a:ext cx="2188527" cy="549266"/>
          </a:xfrm>
        </p:spPr>
        <p:txBody>
          <a:bodyPr/>
          <a:lstStyle/>
          <a:p>
            <a:r>
              <a:rPr lang="en-US"/>
              <a:t>Load data: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9E3C0-FF18-6C39-8B49-C9194C5E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1754660"/>
            <a:ext cx="2205118" cy="165811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17A7F3-9FCA-1507-34D4-DE7072B32202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851229" y="1518217"/>
            <a:ext cx="1438593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6FD979-021E-5787-5D8E-14CED79D1443}"/>
              </a:ext>
            </a:extLst>
          </p:cNvPr>
          <p:cNvSpPr txBox="1">
            <a:spLocks/>
          </p:cNvSpPr>
          <p:nvPr/>
        </p:nvSpPr>
        <p:spPr>
          <a:xfrm>
            <a:off x="4289822" y="1243584"/>
            <a:ext cx="2188527" cy="54926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Preprocess &amp; encode: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ACCAE3-0775-EDED-F312-D79097806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255" y="1846416"/>
            <a:ext cx="3290875" cy="14746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6EE643E-741B-C81C-CC12-5F83EB1FB4FF}"/>
              </a:ext>
            </a:extLst>
          </p:cNvPr>
          <p:cNvSpPr txBox="1">
            <a:spLocks/>
          </p:cNvSpPr>
          <p:nvPr/>
        </p:nvSpPr>
        <p:spPr>
          <a:xfrm>
            <a:off x="7685294" y="1243584"/>
            <a:ext cx="2188527" cy="54926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Build kernel matrix: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061BF0-26B0-29DC-4E7C-6FE6F453A806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6478349" y="1518217"/>
            <a:ext cx="1206945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AD5A5611-E9C1-DF8B-6DA7-A6958E392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024" y="1792850"/>
            <a:ext cx="2618348" cy="5492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3B3DDF5-4015-FBE8-BA4A-AE5A93ABE527}"/>
              </a:ext>
            </a:extLst>
          </p:cNvPr>
          <p:cNvSpPr txBox="1"/>
          <p:nvPr/>
        </p:nvSpPr>
        <p:spPr>
          <a:xfrm>
            <a:off x="10558272" y="1865376"/>
            <a:ext cx="1503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(classical)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5EA9FBF-8FA8-033F-61B2-417C89708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4024" y="2583716"/>
            <a:ext cx="2618348" cy="39996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012E0BE-7A3B-2385-2791-7BF173C1E73C}"/>
              </a:ext>
            </a:extLst>
          </p:cNvPr>
          <p:cNvSpPr txBox="1"/>
          <p:nvPr/>
        </p:nvSpPr>
        <p:spPr>
          <a:xfrm>
            <a:off x="10558272" y="2548392"/>
            <a:ext cx="1503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(quantum)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4F8EF3-416D-23FF-5523-6DA8E9B87600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8020828" y="3230880"/>
            <a:ext cx="1010428" cy="109976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15B09AE-608E-0CA4-C139-CA2FCC037CCB}"/>
              </a:ext>
            </a:extLst>
          </p:cNvPr>
          <p:cNvSpPr txBox="1">
            <a:spLocks/>
          </p:cNvSpPr>
          <p:nvPr/>
        </p:nvSpPr>
        <p:spPr>
          <a:xfrm>
            <a:off x="7010400" y="4330644"/>
            <a:ext cx="2020856" cy="508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Train SVM: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535FD6E-75F2-28E6-CB5B-E401777BDC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741" y="4972212"/>
            <a:ext cx="3815812" cy="815516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C040F2A-5684-1A95-4332-6E6CDD05B04F}"/>
              </a:ext>
            </a:extLst>
          </p:cNvPr>
          <p:cNvCxnSpPr>
            <a:cxnSpLocks/>
            <a:stCxn id="27" idx="1"/>
            <a:endCxn id="37" idx="3"/>
          </p:cNvCxnSpPr>
          <p:nvPr/>
        </p:nvCxnSpPr>
        <p:spPr>
          <a:xfrm flipH="1">
            <a:off x="5080762" y="4584998"/>
            <a:ext cx="1929638" cy="903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86F27A2-D146-F359-F31E-B5FEB84A473C}"/>
              </a:ext>
            </a:extLst>
          </p:cNvPr>
          <p:cNvSpPr txBox="1">
            <a:spLocks/>
          </p:cNvSpPr>
          <p:nvPr/>
        </p:nvSpPr>
        <p:spPr>
          <a:xfrm>
            <a:off x="2814653" y="4339677"/>
            <a:ext cx="2266109" cy="5087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Classify results: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169984-01B6-6386-FA23-F0AAAD47E585}"/>
              </a:ext>
            </a:extLst>
          </p:cNvPr>
          <p:cNvSpPr txBox="1"/>
          <p:nvPr/>
        </p:nvSpPr>
        <p:spPr>
          <a:xfrm>
            <a:off x="6209834" y="5867046"/>
            <a:ext cx="3921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(Only has access to training samples)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61C2356-4FF7-CDF6-2218-2660FACBCA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801" y="5051530"/>
            <a:ext cx="3815812" cy="81551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595E9F0-C7D6-5FCC-6303-23FB80907BD0}"/>
              </a:ext>
            </a:extLst>
          </p:cNvPr>
          <p:cNvSpPr txBox="1"/>
          <p:nvPr/>
        </p:nvSpPr>
        <p:spPr>
          <a:xfrm>
            <a:off x="1986847" y="5959599"/>
            <a:ext cx="3921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(now has access to testing samples)</a:t>
            </a:r>
          </a:p>
        </p:txBody>
      </p:sp>
    </p:spTree>
    <p:extLst>
      <p:ext uri="{BB962C8B-B14F-4D97-AF65-F5344CB8AC3E}">
        <p14:creationId xmlns:p14="http://schemas.microsoft.com/office/powerpoint/2010/main" val="1677745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91EA1A-B4EC-02AD-AE7E-61CB376E9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Metrics that we are using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DF7DA4-310E-29FC-916F-558C8669A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43" y="1481418"/>
            <a:ext cx="9986964" cy="454717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CA" sz="1800" b="1" dirty="0"/>
              <a:t>Precision: </a:t>
            </a:r>
            <a:endParaRPr lang="en-US" sz="1800"/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CA" dirty="0"/>
              <a:t>of the things I predicted as anomalies how many were actually anomalies</a:t>
            </a:r>
          </a:p>
          <a:p>
            <a:pPr marL="0" indent="0">
              <a:buClr>
                <a:srgbClr val="8AD0D6"/>
              </a:buClr>
              <a:buNone/>
            </a:pPr>
            <a:endParaRPr lang="en-CA" sz="1800" dirty="0"/>
          </a:p>
          <a:p>
            <a:r>
              <a:rPr lang="en-CA" sz="1800" b="1" dirty="0"/>
              <a:t>Recall: 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CA" dirty="0"/>
              <a:t>of all the real anomalies how many did I catch</a:t>
            </a:r>
          </a:p>
          <a:p>
            <a:pPr marL="0" indent="0">
              <a:buClr>
                <a:srgbClr val="8AD0D6"/>
              </a:buClr>
              <a:buNone/>
            </a:pPr>
            <a:endParaRPr lang="en-CA" sz="1800" dirty="0"/>
          </a:p>
          <a:p>
            <a:r>
              <a:rPr lang="en-CA" sz="1800" b="1"/>
              <a:t>F1: </a:t>
            </a:r>
            <a:endParaRPr lang="en-CA" sz="1800" b="1" dirty="0"/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CA"/>
              <a:t>balance between precision and recall</a:t>
            </a:r>
            <a:endParaRPr lang="en-CA" dirty="0"/>
          </a:p>
          <a:p>
            <a:pPr marL="0" indent="0">
              <a:buClr>
                <a:srgbClr val="8AD0D6"/>
              </a:buClr>
              <a:buNone/>
            </a:pPr>
            <a:endParaRPr lang="en-CA" sz="1800" dirty="0"/>
          </a:p>
          <a:p>
            <a:r>
              <a:rPr lang="en-CA" sz="1800" b="1"/>
              <a:t>AUC: </a:t>
            </a:r>
            <a:endParaRPr lang="en-CA" sz="1800" b="1" dirty="0"/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CA"/>
              <a:t>ranking quality across all thresholds </a:t>
            </a:r>
            <a:endParaRPr lang="en-CA" dirty="0"/>
          </a:p>
          <a:p>
            <a:endParaRPr lang="en-CA" sz="1800" dirty="0"/>
          </a:p>
          <a:p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92759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18C170-754E-BBE2-1645-247D1F0C3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PCA quantum</a:t>
            </a:r>
          </a:p>
        </p:txBody>
      </p:sp>
      <p:pic>
        <p:nvPicPr>
          <p:cNvPr id="17" name="Espace réservé du contenu 16">
            <a:extLst>
              <a:ext uri="{FF2B5EF4-FFF2-40B4-BE49-F238E27FC236}">
                <a16:creationId xmlns:a16="http://schemas.microsoft.com/office/drawing/2014/main" id="{B76192C6-3EAE-552F-2FDA-F0A4E837D5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4880" y="3981200"/>
            <a:ext cx="9927875" cy="257198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226BBF0-A4DA-8934-45F6-163BAB540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81" y="1141663"/>
            <a:ext cx="9927875" cy="2571988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48EF6D9D-BA7D-0049-F0E9-9E272D0B1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840" y="1222546"/>
            <a:ext cx="6140371" cy="501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9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B7E0E9-1940-DDC6-9928-8C0CDF59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PCA </a:t>
            </a:r>
            <a:r>
              <a:rPr lang="fr-FR" err="1"/>
              <a:t>classical</a:t>
            </a:r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000ADEB-714C-C90F-1C2D-776B3C0C8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599" y="4056037"/>
            <a:ext cx="10363201" cy="268476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F5FC434-6A0B-3E06-1C2B-292F0571F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1" y="1255124"/>
            <a:ext cx="10363199" cy="26847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7DE51C1-C6BD-7751-AB88-AE2746D77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182" y="1255124"/>
            <a:ext cx="6308182" cy="515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9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1F9115-D096-8706-5888-DD8A25BF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Amplitude quantum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BB67454-215E-1EFA-A1D7-77B12D748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565" y="3987800"/>
            <a:ext cx="10569719" cy="273826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FA31D37-FC75-C5A9-EE11-520A59407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5" y="1152983"/>
            <a:ext cx="10569719" cy="273826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557D9D9-FF21-A844-050E-011E0EB70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590" y="1152983"/>
            <a:ext cx="6280946" cy="512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85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46755-7D4E-D59F-CFBD-E91B078A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Amplitude </a:t>
            </a:r>
            <a:r>
              <a:rPr lang="fr-FR" err="1"/>
              <a:t>classical</a:t>
            </a:r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D858808-EA51-5CFB-33E4-826E5CFBE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263025"/>
            <a:ext cx="10174478" cy="26358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8A4EE4F-48C1-4C50-7EAC-A6964B9A1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044325"/>
            <a:ext cx="10174478" cy="263587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1DCF4BB-99F5-1FAB-0FC0-FC2698B1E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393" y="1263025"/>
            <a:ext cx="6298506" cy="514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8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572A3DBD-B697-0EEB-2461-39D9B92CE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934" y="351158"/>
            <a:ext cx="10311459" cy="616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63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9159-AAC4-68F4-8417-62C26E2B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2584769" cy="705522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9E104AB-5F87-5C51-4E79-FAD961D64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49" y="110052"/>
            <a:ext cx="5563332" cy="330709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F57F72E-1A0A-A491-C0A3-B0C46CD55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16" y="106658"/>
            <a:ext cx="5563333" cy="3307092"/>
          </a:xfrm>
          <a:prstGeom prst="rect">
            <a:avLst/>
          </a:prstGeom>
        </p:spPr>
      </p:pic>
      <p:pic>
        <p:nvPicPr>
          <p:cNvPr id="4" name="Picture 3" descr="A graph showing different types of training sizes&#10;&#10;AI-generated content may be incorrect.">
            <a:extLst>
              <a:ext uri="{FF2B5EF4-FFF2-40B4-BE49-F238E27FC236}">
                <a16:creationId xmlns:a16="http://schemas.microsoft.com/office/drawing/2014/main" id="{4D614B26-41CD-B8B5-306B-F22C3629E0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99317" y="3413750"/>
            <a:ext cx="5574763" cy="3310900"/>
          </a:xfrm>
          <a:prstGeom prst="rect">
            <a:avLst/>
          </a:prstGeom>
        </p:spPr>
      </p:pic>
      <p:pic>
        <p:nvPicPr>
          <p:cNvPr id="5" name="Picture 4" descr="A graph showing the difference between training and training&#10;&#10;AI-generated content may be incorrect.">
            <a:extLst>
              <a:ext uri="{FF2B5EF4-FFF2-40B4-BE49-F238E27FC236}">
                <a16:creationId xmlns:a16="http://schemas.microsoft.com/office/drawing/2014/main" id="{CD3CBBFB-D050-9436-9392-659581AF00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974080" y="3417144"/>
            <a:ext cx="5563333" cy="330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266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ollage of different shoes&#10;&#10;AI-generated content may be incorrect.">
            <a:extLst>
              <a:ext uri="{FF2B5EF4-FFF2-40B4-BE49-F238E27FC236}">
                <a16:creationId xmlns:a16="http://schemas.microsoft.com/office/drawing/2014/main" id="{DAEF00AD-8F2B-CFAF-9CCA-27D843822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08" y="-2564"/>
            <a:ext cx="10220325" cy="2657475"/>
          </a:xfrm>
          <a:prstGeom prst="rect">
            <a:avLst/>
          </a:prstGeom>
        </p:spPr>
      </p:pic>
      <p:pic>
        <p:nvPicPr>
          <p:cNvPr id="9" name="Picture 8" descr="A collage of different types of shoes&#10;&#10;AI-generated content may be incorrect.">
            <a:extLst>
              <a:ext uri="{FF2B5EF4-FFF2-40B4-BE49-F238E27FC236}">
                <a16:creationId xmlns:a16="http://schemas.microsoft.com/office/drawing/2014/main" id="{EE28F827-2646-A55F-4C40-79A5F9AEB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" y="4085859"/>
            <a:ext cx="10220325" cy="2657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5216FD-7AF7-D6DB-BFA7-E5E1555E0219}"/>
              </a:ext>
            </a:extLst>
          </p:cNvPr>
          <p:cNvSpPr txBox="1"/>
          <p:nvPr/>
        </p:nvSpPr>
        <p:spPr>
          <a:xfrm>
            <a:off x="1501672" y="3083768"/>
            <a:ext cx="861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Normal: sneaker Anomaly: sandal and heel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E971EF-701C-21C7-620B-B541C8BE5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343" y="389083"/>
            <a:ext cx="7242092" cy="586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0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5E9B-26A8-789D-A8DA-7FDD9747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ollage of different shoes&#10;&#10;AI-generated content may be incorrect.">
            <a:extLst>
              <a:ext uri="{FF2B5EF4-FFF2-40B4-BE49-F238E27FC236}">
                <a16:creationId xmlns:a16="http://schemas.microsoft.com/office/drawing/2014/main" id="{E57F09EB-DE83-F721-6399-FAF6B51C6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52" y="-2564"/>
            <a:ext cx="10220325" cy="2657475"/>
          </a:xfrm>
          <a:prstGeom prst="rect">
            <a:avLst/>
          </a:prstGeom>
        </p:spPr>
      </p:pic>
      <p:pic>
        <p:nvPicPr>
          <p:cNvPr id="9" name="Picture 8" descr="A collage of different types of shoes&#10;&#10;AI-generated content may be incorrect.">
            <a:extLst>
              <a:ext uri="{FF2B5EF4-FFF2-40B4-BE49-F238E27FC236}">
                <a16:creationId xmlns:a16="http://schemas.microsoft.com/office/drawing/2014/main" id="{FAF8904E-6BE9-31AF-BA41-76944AADE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52" y="3782347"/>
            <a:ext cx="10220325" cy="2657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277E2E-7776-8ACB-601F-CD2EF39A7AAB}"/>
              </a:ext>
            </a:extLst>
          </p:cNvPr>
          <p:cNvSpPr txBox="1"/>
          <p:nvPr/>
        </p:nvSpPr>
        <p:spPr>
          <a:xfrm>
            <a:off x="1501672" y="3083768"/>
            <a:ext cx="861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Normal: sneaker Anomaly: sandal and heel</a:t>
            </a:r>
            <a:endParaRPr lang="en-US" sz="2400" dirty="0"/>
          </a:p>
        </p:txBody>
      </p:sp>
      <p:pic>
        <p:nvPicPr>
          <p:cNvPr id="2" name="Picture 1" descr="A collage of different types of shoes&#10;&#10;AI-generated content may be incorrect.">
            <a:extLst>
              <a:ext uri="{FF2B5EF4-FFF2-40B4-BE49-F238E27FC236}">
                <a16:creationId xmlns:a16="http://schemas.microsoft.com/office/drawing/2014/main" id="{779E1C57-5F34-4293-66E4-1667F76C6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37" y="-3667"/>
            <a:ext cx="10220325" cy="2657475"/>
          </a:xfrm>
          <a:prstGeom prst="rect">
            <a:avLst/>
          </a:prstGeom>
        </p:spPr>
      </p:pic>
      <p:pic>
        <p:nvPicPr>
          <p:cNvPr id="3" name="Picture 2" descr="A collage of a pair of shoes&#10;&#10;AI-generated content may be incorrect.">
            <a:extLst>
              <a:ext uri="{FF2B5EF4-FFF2-40B4-BE49-F238E27FC236}">
                <a16:creationId xmlns:a16="http://schemas.microsoft.com/office/drawing/2014/main" id="{CB3D2E1F-3F80-57D5-922D-DA1BDD1AA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580" y="3772616"/>
            <a:ext cx="10220325" cy="2657475"/>
          </a:xfrm>
          <a:prstGeom prst="rect">
            <a:avLst/>
          </a:prstGeom>
        </p:spPr>
      </p:pic>
      <p:pic>
        <p:nvPicPr>
          <p:cNvPr id="4" name="Picture 3" descr="A yellow and purple squares with white text&#10;&#10;AI-generated content may be incorrect.">
            <a:extLst>
              <a:ext uri="{FF2B5EF4-FFF2-40B4-BE49-F238E27FC236}">
                <a16:creationId xmlns:a16="http://schemas.microsoft.com/office/drawing/2014/main" id="{615DFF80-77C7-974D-5602-67A90547BF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9751" y="401652"/>
            <a:ext cx="7046055" cy="583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3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and purple squares with white text&#10;&#10;AI-generated content may be incorrect.">
            <a:extLst>
              <a:ext uri="{FF2B5EF4-FFF2-40B4-BE49-F238E27FC236}">
                <a16:creationId xmlns:a16="http://schemas.microsoft.com/office/drawing/2014/main" id="{066B9C99-2F2B-EC3A-3521-E46945F3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" y="1042664"/>
            <a:ext cx="5822364" cy="4802264"/>
          </a:xfrm>
          <a:prstGeom prst="rect">
            <a:avLst/>
          </a:prstGeom>
        </p:spPr>
      </p:pic>
      <p:pic>
        <p:nvPicPr>
          <p:cNvPr id="5" name="Picture 4" descr="A yellow and purple squares with white text&#10;&#10;AI-generated content may be incorrect.">
            <a:extLst>
              <a:ext uri="{FF2B5EF4-FFF2-40B4-BE49-F238E27FC236}">
                <a16:creationId xmlns:a16="http://schemas.microsoft.com/office/drawing/2014/main" id="{AFE6D91B-8E58-AD44-0A7B-A0415B816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52" y="1042664"/>
            <a:ext cx="5814967" cy="478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54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4F3E-75EC-FE44-2FCE-6A0F4C205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B972DC-C88E-31B5-C6B9-AF0DFABF4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719" y="162522"/>
            <a:ext cx="9854213" cy="654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39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BBC9-A109-C564-1586-3FF3ADDA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5449889" cy="733478"/>
          </a:xfrm>
        </p:spPr>
        <p:txBody>
          <a:bodyPr/>
          <a:lstStyle/>
          <a:p>
            <a:r>
              <a:rPr lang="en-US" sz="2800">
                <a:solidFill>
                  <a:schemeClr val="tx1"/>
                </a:solidFill>
              </a:rPr>
              <a:t>Discussion: why go quantum?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A098D-E12C-D089-454F-F26BB992F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186196"/>
            <a:ext cx="10899777" cy="52190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Many experts are pushing to </a:t>
            </a:r>
            <a:r>
              <a:rPr lang="en-US" err="1"/>
              <a:t>combin</a:t>
            </a:r>
            <a:r>
              <a:rPr lang="en-US"/>
              <a:t>e quantum algorithms and machine learning techniques motivated by intuition and educated guesses.</a:t>
            </a:r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r>
              <a:rPr lang="en-US"/>
              <a:t>Our tests are inconclusive and we have NOT found any quantum advantage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/>
              <a:t>Although we can visually see that our classifier works better than chance, the metrics used are </a:t>
            </a:r>
            <a:r>
              <a:rPr lang="en-US"/>
              <a:t>inconsistent and cannot be used to claim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2352445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54569-F594-55A2-E093-90809A8BB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C516A-7FAB-58AA-45C0-6B0264DC5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267968"/>
            <a:ext cx="10082784" cy="5137314"/>
          </a:xfrm>
        </p:spPr>
        <p:txBody>
          <a:bodyPr>
            <a:normAutofit lnSpcReduction="10000"/>
          </a:bodyPr>
          <a:lstStyle/>
          <a:p>
            <a:r>
              <a:rPr lang="en-US" err="1"/>
              <a:t>Tomono</a:t>
            </a:r>
            <a:r>
              <a:rPr lang="en-US"/>
              <a:t>, T. (n.d.). Quantum Kernel Methods for Industrial Anomaly Detection.</a:t>
            </a:r>
          </a:p>
          <a:p>
            <a:endParaRPr lang="en-US"/>
          </a:p>
          <a:p>
            <a:r>
              <a:rPr lang="en-US" err="1"/>
              <a:t>Corli</a:t>
            </a:r>
            <a:r>
              <a:rPr lang="en-US"/>
              <a:t>, S., Moro, L., </a:t>
            </a:r>
            <a:r>
              <a:rPr lang="en-US" err="1"/>
              <a:t>Dragoni</a:t>
            </a:r>
            <a:r>
              <a:rPr lang="en-US"/>
              <a:t>, D., Dispenza, M., &amp; Prati, E. (2025). Quantum machine learning algorithms for anomaly detection: A review. Future Generation Computer Systems, 166, 107632. https://</a:t>
            </a:r>
            <a:r>
              <a:rPr lang="en-US" err="1"/>
              <a:t>doi.org</a:t>
            </a:r>
            <a:r>
              <a:rPr lang="en-US"/>
              <a:t>/10.1016/j.future.2024.107632</a:t>
            </a:r>
          </a:p>
          <a:p>
            <a:endParaRPr lang="en-US"/>
          </a:p>
          <a:p>
            <a:r>
              <a:rPr lang="en-US"/>
              <a:t>Schuld, M., &amp; Killoran, N. (2019). Quantum machine learning in feature Hilbert spaces. Physical Review Letters, 122(4), 040504. https://</a:t>
            </a:r>
            <a:r>
              <a:rPr lang="en-US" err="1"/>
              <a:t>doi.org</a:t>
            </a:r>
            <a:r>
              <a:rPr lang="en-US"/>
              <a:t>/10.1103/PhysRevLett.122.040504</a:t>
            </a:r>
          </a:p>
          <a:p>
            <a:endParaRPr lang="en-US"/>
          </a:p>
          <a:p>
            <a:r>
              <a:rPr lang="en-US"/>
              <a:t>Havlíček, V., </a:t>
            </a:r>
            <a:r>
              <a:rPr lang="en-US" err="1"/>
              <a:t>Córcoles</a:t>
            </a:r>
            <a:r>
              <a:rPr lang="en-US"/>
              <a:t>, A. D., Temme, K., Harrow, A. W., Kandala, A., Chow, J. M., &amp; Gambetta, J. M. (2019). Supervised learning with quantum enhanced feature spaces. Nature, 567(7747), 209–212. https://</a:t>
            </a:r>
            <a:r>
              <a:rPr lang="en-US" err="1"/>
              <a:t>doi.org</a:t>
            </a:r>
            <a:r>
              <a:rPr lang="en-US"/>
              <a:t>/10.1038/s41586-019-0980-2</a:t>
            </a:r>
          </a:p>
        </p:txBody>
      </p:sp>
    </p:spTree>
    <p:extLst>
      <p:ext uri="{BB962C8B-B14F-4D97-AF65-F5344CB8AC3E}">
        <p14:creationId xmlns:p14="http://schemas.microsoft.com/office/powerpoint/2010/main" val="964730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Widescreen</PresentationFormat>
  <Slides>20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Ion</vt:lpstr>
      <vt:lpstr>Image analysis: anomaly detection</vt:lpstr>
      <vt:lpstr>Outline</vt:lpstr>
      <vt:lpstr>What is image analysis?</vt:lpstr>
      <vt:lpstr>Why analyze images?</vt:lpstr>
      <vt:lpstr>Why detect anomalies?</vt:lpstr>
      <vt:lpstr>Literature motivation:</vt:lpstr>
      <vt:lpstr>How do we analyze images?</vt:lpstr>
      <vt:lpstr>Metrics that we are using </vt:lpstr>
      <vt:lpstr>PCA quantum</vt:lpstr>
      <vt:lpstr>PCA classical</vt:lpstr>
      <vt:lpstr>Amplitude quantum</vt:lpstr>
      <vt:lpstr>Amplitude classical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Discussion: why go quantum?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Asaad Hanna</dc:creator>
  <cp:revision>585</cp:revision>
  <dcterms:created xsi:type="dcterms:W3CDTF">2026-06-02T13:29:25Z</dcterms:created>
  <dcterms:modified xsi:type="dcterms:W3CDTF">2026-06-02T19:20:55Z</dcterms:modified>
</cp:coreProperties>
</file>